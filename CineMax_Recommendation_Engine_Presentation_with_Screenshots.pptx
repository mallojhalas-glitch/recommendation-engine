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30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openxmlformats.org/officeDocument/2006/relationships/slide" Target="slides/slide2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1B4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1B4B"/>
                </a:solidFill>
                <a:latin typeface="Arial"/>
              </a:rPr>
              <a:t>Relevance scores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Relevance</c:v>
                </c:pt>
              </c:strCache>
            </c:strRef>
          </c:tx>
          <c:spPr>
            <a:solidFill>
              <a:srgbClr val="4338C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338C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338C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5B4F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5B4FC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Item A</c:v>
                  </c:pt>
                  <c:pt idx="1">
                    <c:v>Item C</c:v>
                  </c:pt>
                  <c:pt idx="2">
                    <c:v>Item B</c:v>
                  </c:pt>
                  <c:pt idx="3">
                    <c:v>Item 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90</c:v>
                </c:pt>
                <c:pt idx="1">
                  <c:v>75</c:v>
                </c:pt>
                <c:pt idx="2">
                  <c:v>40</c:v>
                </c:pt>
                <c:pt idx="3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Recommendation Engine built with DSA concepts.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what a recommendation engine is and give the four example domains.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users struggle on large platforms and how our engine addresses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Nine objectives, from collecting data to demonstrating DSA concepts.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overall pipeline from user input to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eight workflow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kinds of data structures support storage and management.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algorithmic ideas, and what each one contributes.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movie example: user interests Action and Sci-Fi.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complete pipeline as one diagram. Colors: input, processing,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Relevance is based on how many features match the user interests.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Searching narrows items down; string matching compares interests with item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Sort by relevance, then display only the top N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module handles one task in the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implementation modules.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Console-style sample run matching the movie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each DSA concept to its role.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Goals for efficiency; complexity figures are typical illustrative costs.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key advantages.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Real-world domains where the engine can be extended.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Possible enhancements.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project and its DSA contribution.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references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– 3  (25CS2103E)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51560"/>
            <a:ext cx="5303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Engine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6974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Personalized, ranked suggestions using searching, string matching and sorting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5204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Srivalli – 2520090220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Shanmukhi – 2520090076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43484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7  |  Section 12  |  Guide: Ms. Chandusha, Assistant Professor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66344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Computer Science and Information Technology, Koneru Lakshmaiah Education Foundation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035040" y="822960"/>
            <a:ext cx="2743200" cy="274320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37960" y="1325880"/>
            <a:ext cx="1737360" cy="173736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1828800"/>
            <a:ext cx="731520" cy="7315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760720" y="301752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740" y="3177540"/>
            <a:ext cx="320040" cy="32004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8229600" y="91440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9620" y="1074420"/>
            <a:ext cx="320040" cy="32004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8412480" y="3108960"/>
            <a:ext cx="548640" cy="5486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9640" y="3246120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  |  Team 7  |  Section 12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42062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Recommendation Engine provides personalized suggestions based on a user's preferences, interests, and previous interactions.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platforms hold huge numbers of products, movies, books, and courses. Finding relevant items manually is difficult and time-consuming.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project analyzes user information and item characteristics to generate a ranked list of suitable recommendations.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937760" y="1188720"/>
            <a:ext cx="1828800" cy="1554480"/>
          </a:xfrm>
          <a:prstGeom prst="roundRect">
            <a:avLst>
              <a:gd name="adj" fmla="val 4706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166360" y="1417320"/>
            <a:ext cx="640080" cy="64008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6380" y="157734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166360" y="21488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recommendations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858000" y="1188720"/>
            <a:ext cx="1828800" cy="1554480"/>
          </a:xfrm>
          <a:prstGeom prst="roundRect">
            <a:avLst>
              <a:gd name="adj" fmla="val 4706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086600" y="141732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6620" y="157734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086600" y="214884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recommendations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937760" y="2880360"/>
            <a:ext cx="1828800" cy="1554480"/>
          </a:xfrm>
          <a:prstGeom prst="roundRect">
            <a:avLst>
              <a:gd name="adj" fmla="val 4706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166360" y="3108960"/>
            <a:ext cx="640080" cy="64008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6380" y="326898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166360" y="38404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recommendations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6858000" y="2880360"/>
            <a:ext cx="1828800" cy="1554480"/>
          </a:xfrm>
          <a:prstGeom prst="roundRect">
            <a:avLst>
              <a:gd name="adj" fmla="val 4706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7086600" y="3108960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6620" y="3268980"/>
            <a:ext cx="320040" cy="32004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086600" y="38404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learning content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  |  Team 7  |  Section 12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0515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are often presented with a large number of items on digital platforms.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554480"/>
            <a:ext cx="4846320" cy="512064"/>
          </a:xfrm>
          <a:prstGeom prst="roundRect">
            <a:avLst>
              <a:gd name="adj" fmla="val 14286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66928" y="1627632"/>
            <a:ext cx="365760" cy="36576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66928" y="1627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097280" y="1554480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identify relevant items quickly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2157984"/>
            <a:ext cx="4846320" cy="512064"/>
          </a:xfrm>
          <a:prstGeom prst="roundRect">
            <a:avLst>
              <a:gd name="adj" fmla="val 14286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66928" y="2231136"/>
            <a:ext cx="365760" cy="36576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66928" y="2231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2157984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amount of information to search through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2761488"/>
            <a:ext cx="4846320" cy="512064"/>
          </a:xfrm>
          <a:prstGeom prst="roundRect">
            <a:avLst>
              <a:gd name="adj" fmla="val 14286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66928" y="2834640"/>
            <a:ext cx="365760" cy="36576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66928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097280" y="2761488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searching requires more time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57200" y="3364992"/>
            <a:ext cx="4846320" cy="512064"/>
          </a:xfrm>
          <a:prstGeom prst="roundRect">
            <a:avLst>
              <a:gd name="adj" fmla="val 14286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6928" y="3438144"/>
            <a:ext cx="365760" cy="36576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66928" y="3438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1097280" y="3364992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results may not match individual interests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57200" y="3968496"/>
            <a:ext cx="4846320" cy="512064"/>
          </a:xfrm>
          <a:prstGeom prst="roundRect">
            <a:avLst>
              <a:gd name="adj" fmla="val 14286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66928" y="4041648"/>
            <a:ext cx="365760" cy="36576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66928" y="4041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1097280" y="3968496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an efficient way to rank relevant items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577840" y="1097280"/>
            <a:ext cx="3108960" cy="3429000"/>
          </a:xfrm>
          <a:prstGeom prst="roundRect">
            <a:avLst>
              <a:gd name="adj" fmla="val 2353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852160" y="137160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2180" y="1531620"/>
            <a:ext cx="320040" cy="320040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5852160" y="2194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100" dirty="0"/>
          </a:p>
        </p:txBody>
      </p:sp>
      <p:sp>
        <p:nvSpPr>
          <p:cNvPr id="31" name="Text 27"/>
          <p:cNvSpPr txBox="1"/>
          <p:nvPr/>
        </p:nvSpPr>
        <p:spPr>
          <a:xfrm>
            <a:off x="5852160" y="2560320"/>
            <a:ext cx="2560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Recommendation Engine that analyzes user preferences and interaction history and generates a limited, relevant, and ranked list of recommendations.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  |  Team 7  |  Section 12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7200" y="114300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1481328"/>
            <a:ext cx="384048" cy="384048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114300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and process user preferences and interaction history.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46120" y="114300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383280" y="1481328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38328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886200" y="114300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and manage user and item information efficiently.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035040" y="114300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172200" y="1481328"/>
            <a:ext cx="384048" cy="384048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17220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675120" y="114300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items matching user interests.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233172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4360" y="2670048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94360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097280" y="233172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user interests with item characteristics.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246120" y="233172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383280" y="2670048"/>
            <a:ext cx="384048" cy="384048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383280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3886200" y="233172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the relevance of each item.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035040" y="233172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172200" y="2670048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172200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6675120" y="233172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items according to their relevance.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457200" y="352044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94360" y="3858768"/>
            <a:ext cx="384048" cy="384048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9436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1097280" y="352044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limited list of suitable recommendations.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3246120" y="352044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383280" y="3858768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338328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3886200" y="352044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unnecessary searching and improve response time.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6035040" y="352044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172200" y="3858768"/>
            <a:ext cx="384048" cy="384048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7220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41" name="Text 38"/>
          <p:cNvSpPr txBox="1"/>
          <p:nvPr/>
        </p:nvSpPr>
        <p:spPr>
          <a:xfrm>
            <a:off x="6675120" y="352044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practical applications of DSA concepts.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  |  Team 7  |  Section 12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0352" y="1188720"/>
            <a:ext cx="16367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313432" y="1504188"/>
            <a:ext cx="219456" cy="23774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606040" y="118872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79192" y="1188720"/>
            <a:ext cx="16367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Preferences / Interaction History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462272" y="1504188"/>
            <a:ext cx="219456" cy="23774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118872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28032" y="1188720"/>
            <a:ext cx="16367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611112" y="1504188"/>
            <a:ext cx="219456" cy="23774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903720" y="118872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976872" y="1188720"/>
            <a:ext cx="16367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and String Matching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676388" y="2130552"/>
            <a:ext cx="237744" cy="356616"/>
          </a:xfrm>
          <a:prstGeom prst="down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903720" y="256032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976872" y="2560320"/>
            <a:ext cx="16367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Calculation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611112" y="2875788"/>
            <a:ext cx="219456" cy="237744"/>
          </a:xfrm>
          <a:prstGeom prst="lef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754880" y="256032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828032" y="2560320"/>
            <a:ext cx="16367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/ Sorting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462272" y="2875788"/>
            <a:ext cx="219456" cy="237744"/>
          </a:xfrm>
          <a:prstGeom prst="lef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606040" y="256032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679192" y="2560320"/>
            <a:ext cx="16367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Recommendations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2313432" y="2875788"/>
            <a:ext cx="219456" cy="237744"/>
          </a:xfrm>
          <a:prstGeom prst="lef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7200" y="256032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30352" y="2560320"/>
            <a:ext cx="16367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to User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457200" y="36576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40080" y="3794760"/>
            <a:ext cx="548640" cy="54864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931920"/>
            <a:ext cx="274320" cy="274320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1371600" y="365760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focuses on providing relevant and diverse recommendations while reducing unnecessary searching.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  |  Team 7  |  Section 12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Workflow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7200" y="1143000"/>
            <a:ext cx="1965960" cy="1645920"/>
          </a:xfrm>
          <a:prstGeom prst="roundRect">
            <a:avLst>
              <a:gd name="adj" fmla="val 4444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2344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4338C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61848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19202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provides preferences, interests, searches, views, selections, or ratings.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560320" y="1143000"/>
            <a:ext cx="1965960" cy="1645920"/>
          </a:xfrm>
          <a:prstGeom prst="roundRect">
            <a:avLst>
              <a:gd name="adj" fmla="val 4444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697480" y="12344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4338C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2697480" y="161848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2697480" y="19202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collects user interaction information and item characteristics.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663440" y="1143000"/>
            <a:ext cx="1965960" cy="1645920"/>
          </a:xfrm>
          <a:prstGeom prst="roundRect">
            <a:avLst>
              <a:gd name="adj" fmla="val 4444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800600" y="12344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4338C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4800600" y="161848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4800600" y="19202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and item information is stored using suitable data structures.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766560" y="1143000"/>
            <a:ext cx="1965960" cy="1645920"/>
          </a:xfrm>
          <a:prstGeom prst="roundRect">
            <a:avLst>
              <a:gd name="adj" fmla="val 4444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903720" y="12344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6903720" y="161848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6903720" y="192024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searches and matches user interests with item information.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" y="2926080"/>
            <a:ext cx="1965960" cy="1645920"/>
          </a:xfrm>
          <a:prstGeom prst="roundRect">
            <a:avLst>
              <a:gd name="adj" fmla="val 4444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94360" y="3017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24" name="Text 21"/>
          <p:cNvSpPr txBox="1"/>
          <p:nvPr/>
        </p:nvSpPr>
        <p:spPr>
          <a:xfrm>
            <a:off x="594360" y="34015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Calculation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594360" y="37033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relevance value is calculated from the level of matching between interests and features.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2560320" y="2926080"/>
            <a:ext cx="1965960" cy="1645920"/>
          </a:xfrm>
          <a:prstGeom prst="roundRect">
            <a:avLst>
              <a:gd name="adj" fmla="val 4444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2697480" y="3017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400" dirty="0"/>
          </a:p>
        </p:txBody>
      </p:sp>
      <p:sp>
        <p:nvSpPr>
          <p:cNvPr id="28" name="Text 25"/>
          <p:cNvSpPr txBox="1"/>
          <p:nvPr/>
        </p:nvSpPr>
        <p:spPr>
          <a:xfrm>
            <a:off x="2697480" y="34015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697480" y="37033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are sorted according to their relevance.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663440" y="2926080"/>
            <a:ext cx="1965960" cy="1645920"/>
          </a:xfrm>
          <a:prstGeom prst="roundRect">
            <a:avLst>
              <a:gd name="adj" fmla="val 4444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800600" y="3017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400" dirty="0"/>
          </a:p>
        </p:txBody>
      </p:sp>
      <p:sp>
        <p:nvSpPr>
          <p:cNvPr id="32" name="Text 29"/>
          <p:cNvSpPr txBox="1"/>
          <p:nvPr/>
        </p:nvSpPr>
        <p:spPr>
          <a:xfrm>
            <a:off x="4800600" y="34015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4800600" y="37033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limited number of highly relevant items is selected.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766560" y="2926080"/>
            <a:ext cx="1965960" cy="1645920"/>
          </a:xfrm>
          <a:prstGeom prst="roundRect">
            <a:avLst>
              <a:gd name="adj" fmla="val 4444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903720" y="3017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B45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400" dirty="0"/>
          </a:p>
        </p:txBody>
      </p:sp>
      <p:sp>
        <p:nvSpPr>
          <p:cNvPr id="36" name="Text 33"/>
          <p:cNvSpPr txBox="1"/>
          <p:nvPr/>
        </p:nvSpPr>
        <p:spPr>
          <a:xfrm>
            <a:off x="6903720" y="34015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6903720" y="370332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recommendations are displayed to the user.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  |  Team 7  |  Section 12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Structures Used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7200" y="1143000"/>
            <a:ext cx="2743200" cy="1600200"/>
          </a:xfrm>
          <a:prstGeom prst="roundRect">
            <a:avLst>
              <a:gd name="adj" fmla="val 4571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325880"/>
            <a:ext cx="548640" cy="54864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4630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3258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201168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and manage collections of user or item information.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337560" y="1143000"/>
            <a:ext cx="2743200" cy="1600200"/>
          </a:xfrm>
          <a:prstGeom prst="roundRect">
            <a:avLst>
              <a:gd name="adj" fmla="val 4571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520440" y="132588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46304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206240" y="13258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3520440" y="201168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 and compare interests, item names, categories, and features.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57200" y="2880360"/>
            <a:ext cx="2743200" cy="1600200"/>
          </a:xfrm>
          <a:prstGeom prst="roundRect">
            <a:avLst>
              <a:gd name="adj" fmla="val 4571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0080" y="3063240"/>
            <a:ext cx="548640" cy="54864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0040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325880" y="30632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640080" y="37490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collections of users, items, preferences, and recommendations.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3337560" y="2880360"/>
            <a:ext cx="2743200" cy="1600200"/>
          </a:xfrm>
          <a:prstGeom prst="roundRect">
            <a:avLst>
              <a:gd name="adj" fmla="val 4571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3520440" y="306324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3200400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4206240" y="30632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Data Structures</a:t>
            </a:r>
            <a:endParaRPr lang="en-US" sz="1400" dirty="0"/>
          </a:p>
        </p:txBody>
      </p:sp>
      <p:sp>
        <p:nvSpPr>
          <p:cNvPr id="25" name="Text 18"/>
          <p:cNvSpPr txBox="1"/>
          <p:nvPr/>
        </p:nvSpPr>
        <p:spPr>
          <a:xfrm>
            <a:off x="3520440" y="374904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information that may change while the system runs.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6355080" y="1143000"/>
            <a:ext cx="2331720" cy="3337560"/>
          </a:xfrm>
          <a:prstGeom prst="roundRect">
            <a:avLst>
              <a:gd name="adj" fmla="val 3137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6537960" y="1371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</a:t>
            </a:r>
            <a:endParaRPr lang="en-US" sz="1100" dirty="0"/>
          </a:p>
        </p:txBody>
      </p:sp>
      <p:sp>
        <p:nvSpPr>
          <p:cNvPr id="28" name="Text 21"/>
          <p:cNvSpPr txBox="1"/>
          <p:nvPr/>
        </p:nvSpPr>
        <p:spPr>
          <a:xfrm>
            <a:off x="6537960" y="1783080"/>
            <a:ext cx="1965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Appropriate data structures organize information and support efficient searching, matching, and ranking.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  |  Team 7  |  Section 12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Algorithms Used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7200" y="1143000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2344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5270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items matching user requirements.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029968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21214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241401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 results according to relevance.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2916936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30083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String-Searching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" y="330098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Efficiently match user interests with item information.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3803904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0080" y="38953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41879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items from higher to lower relevance.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029200" y="1143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CONTRIBUTION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029200" y="1554480"/>
            <a:ext cx="1508760" cy="512064"/>
          </a:xfrm>
          <a:prstGeom prst="roundRect">
            <a:avLst>
              <a:gd name="adj" fmla="val 14286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102352" y="1554480"/>
            <a:ext cx="1362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629400" y="1691640"/>
            <a:ext cx="256032" cy="23774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995160" y="1554480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029200" y="2157984"/>
            <a:ext cx="1508760" cy="512064"/>
          </a:xfrm>
          <a:prstGeom prst="roundRect">
            <a:avLst>
              <a:gd name="adj" fmla="val 14286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102352" y="2157984"/>
            <a:ext cx="1362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Searching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629400" y="2295144"/>
            <a:ext cx="256032" cy="23774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995160" y="2157984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Identification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029200" y="2761488"/>
            <a:ext cx="1508760" cy="512064"/>
          </a:xfrm>
          <a:prstGeom prst="roundRect">
            <a:avLst>
              <a:gd name="adj" fmla="val 14286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102352" y="2761488"/>
            <a:ext cx="1362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629400" y="2898648"/>
            <a:ext cx="256032" cy="23774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995160" y="2761488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5029200" y="3364992"/>
            <a:ext cx="1508760" cy="512064"/>
          </a:xfrm>
          <a:prstGeom prst="roundRect">
            <a:avLst>
              <a:gd name="adj" fmla="val 14286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102352" y="3364992"/>
            <a:ext cx="1362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6629400" y="3502152"/>
            <a:ext cx="256032" cy="23774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995160" y="3364992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5029200" y="3968496"/>
            <a:ext cx="1508760" cy="512064"/>
          </a:xfrm>
          <a:prstGeom prst="roundRect">
            <a:avLst>
              <a:gd name="adj" fmla="val 14286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102352" y="3968496"/>
            <a:ext cx="1362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6629400" y="4105656"/>
            <a:ext cx="256032" cy="23774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6995160" y="3968496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Data Management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  |  Team 7  |  Section 12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Process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7043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interests: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1737360" y="1170432"/>
            <a:ext cx="914400" cy="329184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810512" y="1170432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88920" y="1170432"/>
            <a:ext cx="914400" cy="329184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862072" y="1170432"/>
            <a:ext cx="768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Sci-Fi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49377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463040"/>
                <a:gridCol w="1554480"/>
                <a:gridCol w="91440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Matching interests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Movie 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Action, Sci-Fi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Movie 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Sci-Fi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Movie 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Comedy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(tie)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Movie 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(tie)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457200" y="4114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Movies B and D have no matching interests, so they are not recommended.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715000" y="1170432"/>
            <a:ext cx="2971800" cy="3337560"/>
          </a:xfrm>
          <a:prstGeom prst="roundRect">
            <a:avLst>
              <a:gd name="adj" fmla="val 2462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943600" y="1371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RECOMMENDATION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943600" y="1828800"/>
            <a:ext cx="2514600" cy="54864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016752" y="1828800"/>
            <a:ext cx="2368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Movie A  (2 matches)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943600" y="2514600"/>
            <a:ext cx="2514600" cy="54864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016752" y="2514600"/>
            <a:ext cx="2368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Movie C  (1 match)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5943600" y="329184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and ranking together generate the recommendations.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  |  Team 7  |  Section 12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Working Process Diagram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7200" y="1234440"/>
            <a:ext cx="1325880" cy="822960"/>
          </a:xfrm>
          <a:prstGeom prst="roundRect">
            <a:avLst>
              <a:gd name="adj" fmla="val 8889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0352" y="1234440"/>
            <a:ext cx="1179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856232" y="1527048"/>
            <a:ext cx="219456" cy="23774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148840" y="1234440"/>
            <a:ext cx="1325880" cy="822960"/>
          </a:xfrm>
          <a:prstGeom prst="roundRect">
            <a:avLst>
              <a:gd name="adj" fmla="val 8889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221992" y="1234440"/>
            <a:ext cx="1179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PREFERENCES / INTERACTION HISTORY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547872" y="1527048"/>
            <a:ext cx="219456" cy="23774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840480" y="1234440"/>
            <a:ext cx="1325880" cy="822960"/>
          </a:xfrm>
          <a:prstGeom prst="roundRect">
            <a:avLst>
              <a:gd name="adj" fmla="val 8889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913632" y="1234440"/>
            <a:ext cx="1179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239512" y="1527048"/>
            <a:ext cx="219456" cy="23774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532120" y="1234440"/>
            <a:ext cx="1325880" cy="822960"/>
          </a:xfrm>
          <a:prstGeom prst="roundRect">
            <a:avLst>
              <a:gd name="adj" fmla="val 88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605272" y="1234440"/>
            <a:ext cx="1179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931152" y="1527048"/>
            <a:ext cx="219456" cy="23774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223760" y="1234440"/>
            <a:ext cx="1325880" cy="822960"/>
          </a:xfrm>
          <a:prstGeom prst="roundRect">
            <a:avLst>
              <a:gd name="adj" fmla="val 88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296912" y="1234440"/>
            <a:ext cx="1179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767828" y="2130552"/>
            <a:ext cx="237744" cy="402336"/>
          </a:xfrm>
          <a:prstGeom prst="down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223760" y="2606040"/>
            <a:ext cx="1325880" cy="822960"/>
          </a:xfrm>
          <a:prstGeom prst="roundRect">
            <a:avLst>
              <a:gd name="adj" fmla="val 88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296912" y="2606040"/>
            <a:ext cx="1179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MATCHING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931152" y="2898648"/>
            <a:ext cx="219456" cy="237744"/>
          </a:xfrm>
          <a:prstGeom prst="lef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532120" y="2606040"/>
            <a:ext cx="1325880" cy="822960"/>
          </a:xfrm>
          <a:prstGeom prst="roundRect">
            <a:avLst>
              <a:gd name="adj" fmla="val 88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605272" y="2606040"/>
            <a:ext cx="1179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CALCULATION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239512" y="2898648"/>
            <a:ext cx="219456" cy="237744"/>
          </a:xfrm>
          <a:prstGeom prst="lef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840480" y="2606040"/>
            <a:ext cx="1325880" cy="822960"/>
          </a:xfrm>
          <a:prstGeom prst="roundRect">
            <a:avLst>
              <a:gd name="adj" fmla="val 88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913632" y="2606040"/>
            <a:ext cx="1179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/ RANKING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3547872" y="2898648"/>
            <a:ext cx="219456" cy="237744"/>
          </a:xfrm>
          <a:prstGeom prst="lef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148840" y="2606040"/>
            <a:ext cx="1325880" cy="822960"/>
          </a:xfrm>
          <a:prstGeom prst="roundRect">
            <a:avLst>
              <a:gd name="adj" fmla="val 888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2221992" y="2606040"/>
            <a:ext cx="1179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RECOMMENDATIONS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1856232" y="2898648"/>
            <a:ext cx="219456" cy="237744"/>
          </a:xfrm>
          <a:prstGeom prst="lef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57200" y="2606040"/>
            <a:ext cx="1325880" cy="822960"/>
          </a:xfrm>
          <a:prstGeom prst="roundRect">
            <a:avLst>
              <a:gd name="adj" fmla="val 888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30352" y="2606040"/>
            <a:ext cx="1179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2194560" y="4041648"/>
            <a:ext cx="182880" cy="18288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2468880" y="40050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and storage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3931920" y="4041648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4206240" y="40050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5669280" y="4041648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5943600" y="40050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  |  Team 7  |  Section 12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Relevance Calculation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7200" y="11430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11430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Relevance = Number / Level of Matching Features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103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interests:  Action + Sci-Fi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251460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2651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A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+ Sci-Fi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0080" y="3474720"/>
            <a:ext cx="640080" cy="128016"/>
          </a:xfrm>
          <a:prstGeom prst="roundRect">
            <a:avLst>
              <a:gd name="adj" fmla="val 35714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371600" y="3474720"/>
            <a:ext cx="640080" cy="128016"/>
          </a:xfrm>
          <a:prstGeom prst="roundRect">
            <a:avLst>
              <a:gd name="adj" fmla="val 35714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103120" y="3474720"/>
            <a:ext cx="640080" cy="128016"/>
          </a:xfrm>
          <a:prstGeom prst="roundRect">
            <a:avLst>
              <a:gd name="adj" fmla="val 35714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" y="3749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relevance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246120" y="251460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429000" y="2651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C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3429000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Sci-Fi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3429000" y="3474720"/>
            <a:ext cx="640080" cy="128016"/>
          </a:xfrm>
          <a:prstGeom prst="roundRect">
            <a:avLst>
              <a:gd name="adj" fmla="val 35714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160520" y="3474720"/>
            <a:ext cx="640080" cy="128016"/>
          </a:xfrm>
          <a:prstGeom prst="roundRect">
            <a:avLst>
              <a:gd name="adj" fmla="val 35714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892040" y="3474720"/>
            <a:ext cx="640080" cy="128016"/>
          </a:xfrm>
          <a:prstGeom prst="roundRect">
            <a:avLst>
              <a:gd name="adj" fmla="val 35714"/>
            </a:avLst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429000" y="3749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relevance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035040" y="251460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217920" y="2651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D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6217920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217920" y="3474720"/>
            <a:ext cx="640080" cy="128016"/>
          </a:xfrm>
          <a:prstGeom prst="roundRect">
            <a:avLst>
              <a:gd name="adj" fmla="val 35714"/>
            </a:avLst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949440" y="3474720"/>
            <a:ext cx="640080" cy="128016"/>
          </a:xfrm>
          <a:prstGeom prst="roundRect">
            <a:avLst>
              <a:gd name="adj" fmla="val 35714"/>
            </a:avLst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680960" y="3474720"/>
            <a:ext cx="640080" cy="128016"/>
          </a:xfrm>
          <a:prstGeom prst="roundRect">
            <a:avLst>
              <a:gd name="adj" fmla="val 35714"/>
            </a:avLst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217920" y="3749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relevance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457200" y="4389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items then pass to the sorting / ranking stage.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  |  Team 7  |  Section 12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Searching and String Matching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7200" y="123444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30352" y="1234440"/>
            <a:ext cx="16367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Interest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313432" y="1499616"/>
            <a:ext cx="265176" cy="23774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606040" y="123444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79192" y="1234440"/>
            <a:ext cx="16367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Matching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462272" y="1499616"/>
            <a:ext cx="265176" cy="23774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123444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28032" y="1234440"/>
            <a:ext cx="16367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Items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611112" y="1499616"/>
            <a:ext cx="265176" cy="237744"/>
          </a:xfrm>
          <a:prstGeom prst="rightArrow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903720" y="1234440"/>
            <a:ext cx="1783080" cy="777240"/>
          </a:xfrm>
          <a:prstGeom prst="roundRect">
            <a:avLst>
              <a:gd name="adj" fmla="val 941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976872" y="1234440"/>
            <a:ext cx="16367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Calculation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57200" y="2423160"/>
            <a:ext cx="4206240" cy="2103120"/>
          </a:xfrm>
          <a:prstGeom prst="roundRect">
            <a:avLst>
              <a:gd name="adj" fmla="val 3478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2971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searches: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85800" y="3291840"/>
            <a:ext cx="374904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4338C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04672" y="3364992"/>
            <a:ext cx="310896" cy="310896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" y="3442716"/>
            <a:ext cx="155448" cy="155448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234440" y="32918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Fiction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685800" y="3931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scans item information for matching terms.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4846320" y="2423160"/>
            <a:ext cx="3840480" cy="2103120"/>
          </a:xfrm>
          <a:prstGeom prst="roundRect">
            <a:avLst>
              <a:gd name="adj" fmla="val 3478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5074920" y="2606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HELPS</a:t>
            </a:r>
            <a:endParaRPr lang="en-US" sz="1100" dirty="0"/>
          </a:p>
        </p:txBody>
      </p:sp>
      <p:sp>
        <p:nvSpPr>
          <p:cNvPr id="27" name="Text 23"/>
          <p:cNvSpPr txBox="1"/>
          <p:nvPr/>
        </p:nvSpPr>
        <p:spPr>
          <a:xfrm>
            <a:off x="5074920" y="301752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unnecessary searching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relevant items efficiently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interests with item information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  |  Team 7  |  Section 12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Sorting and Ranking</a:t>
            </a:r>
            <a:endParaRPr lang="en-US" sz="2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097280"/>
          <a:ext cx="48463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669280" y="1143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SORTING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5669280" y="1554480"/>
            <a:ext cx="3017520" cy="475488"/>
          </a:xfrm>
          <a:prstGeom prst="roundRect">
            <a:avLst>
              <a:gd name="adj" fmla="val 15385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5760720" y="1618488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760720" y="16184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6263640" y="1554480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A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7680960" y="155448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5669280" y="2121408"/>
            <a:ext cx="3017520" cy="475488"/>
          </a:xfrm>
          <a:prstGeom prst="roundRect">
            <a:avLst>
              <a:gd name="adj" fmla="val 15385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760720" y="2185416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760720" y="2185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6263640" y="2121408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C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7680960" y="2121408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5669280" y="2688336"/>
            <a:ext cx="3017520" cy="475488"/>
          </a:xfrm>
          <a:prstGeom prst="roundRect">
            <a:avLst>
              <a:gd name="adj" fmla="val 15385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760720" y="2752344"/>
            <a:ext cx="347472" cy="347472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760720" y="27523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6263640" y="268833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B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7680960" y="2688336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5669280" y="3255264"/>
            <a:ext cx="3017520" cy="475488"/>
          </a:xfrm>
          <a:prstGeom prst="roundRect">
            <a:avLst>
              <a:gd name="adj" fmla="val 15385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5760720" y="3319272"/>
            <a:ext cx="347472" cy="347472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5760720" y="3319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6263640" y="3255264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D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7680960" y="3255264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400" dirty="0"/>
          </a:p>
        </p:txBody>
      </p:sp>
      <p:sp>
        <p:nvSpPr>
          <p:cNvPr id="28" name="Text 24"/>
          <p:cNvSpPr txBox="1"/>
          <p:nvPr/>
        </p:nvSpPr>
        <p:spPr>
          <a:xfrm>
            <a:off x="5669280" y="39319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required number of top recommendations is displayed.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  |  Team 7  |  Section 12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7200" y="1143000"/>
            <a:ext cx="4754880" cy="402336"/>
          </a:xfrm>
          <a:prstGeom prst="roundRect">
            <a:avLst>
              <a:gd name="adj" fmla="val 13636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143000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1143000"/>
            <a:ext cx="228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1636776"/>
            <a:ext cx="4754880" cy="402336"/>
          </a:xfrm>
          <a:prstGeom prst="roundRect">
            <a:avLst>
              <a:gd name="adj" fmla="val 13636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1636776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Preference / Interaction Module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1636776"/>
            <a:ext cx="228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2130552"/>
            <a:ext cx="4754880" cy="402336"/>
          </a:xfrm>
          <a:prstGeom prst="roundRect">
            <a:avLst>
              <a:gd name="adj" fmla="val 13636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2130552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Management Module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02920" y="2130552"/>
            <a:ext cx="228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2624328"/>
            <a:ext cx="4754880" cy="402336"/>
          </a:xfrm>
          <a:prstGeom prst="round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31520" y="2624328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Matching Module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2624328"/>
            <a:ext cx="228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3118104"/>
            <a:ext cx="4754880" cy="402336"/>
          </a:xfrm>
          <a:prstGeom prst="round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31520" y="3118104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Calculation Module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02920" y="3118104"/>
            <a:ext cx="228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3611880"/>
            <a:ext cx="4754880" cy="402336"/>
          </a:xfrm>
          <a:prstGeom prst="roundRect">
            <a:avLst>
              <a:gd name="adj" fmla="val 1363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3611880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&amp; Ranking Module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502920" y="3611880"/>
            <a:ext cx="228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4105656"/>
            <a:ext cx="4754880" cy="402336"/>
          </a:xfrm>
          <a:prstGeom prst="roundRect">
            <a:avLst>
              <a:gd name="adj" fmla="val 1363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31520" y="4105656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Output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502920" y="4105656"/>
            <a:ext cx="228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577840" y="1143000"/>
            <a:ext cx="3108960" cy="3364992"/>
          </a:xfrm>
          <a:prstGeom prst="roundRect">
            <a:avLst>
              <a:gd name="adj" fmla="val 2353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852160" y="1417320"/>
            <a:ext cx="731520" cy="73152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600200"/>
            <a:ext cx="365760" cy="365760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5852160" y="2377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1100" dirty="0"/>
          </a:p>
        </p:txBody>
      </p:sp>
      <p:sp>
        <p:nvSpPr>
          <p:cNvPr id="31" name="Text 27"/>
          <p:cNvSpPr txBox="1"/>
          <p:nvPr/>
        </p:nvSpPr>
        <p:spPr>
          <a:xfrm>
            <a:off x="5852160" y="2743200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performs a specific task in the recommendation pipeline, making the system organized and easier to manage.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  |  Team 7  |  Section 12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Modules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7200" y="114300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207008"/>
            <a:ext cx="1051560" cy="329184"/>
          </a:xfrm>
          <a:prstGeom prst="roundRect">
            <a:avLst>
              <a:gd name="adj" fmla="val 2222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21792" y="1207008"/>
            <a:ext cx="905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1783080" y="1143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114800" y="11430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user preferences and interaction information.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1709928"/>
            <a:ext cx="1051560" cy="329184"/>
          </a:xfrm>
          <a:prstGeom prst="roundRect">
            <a:avLst>
              <a:gd name="adj" fmla="val 2222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1792" y="1709928"/>
            <a:ext cx="905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1783080" y="1645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Management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114800" y="16459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user and item information using data structures.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21488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48640" y="2212848"/>
            <a:ext cx="1051560" cy="329184"/>
          </a:xfrm>
          <a:prstGeom prst="roundRect">
            <a:avLst>
              <a:gd name="adj" fmla="val 2222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21792" y="2212848"/>
            <a:ext cx="905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783080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Searching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114800" y="21488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for items related to user interests.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48640" y="2715768"/>
            <a:ext cx="1051560" cy="329184"/>
          </a:xfrm>
          <a:prstGeom prst="roundRect">
            <a:avLst>
              <a:gd name="adj" fmla="val 2222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21792" y="2715768"/>
            <a:ext cx="905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783080" y="2651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Matching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114800" y="26517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user interests with item features.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57200" y="315468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8640" y="3218688"/>
            <a:ext cx="1051560" cy="329184"/>
          </a:xfrm>
          <a:prstGeom prst="roundRect">
            <a:avLst>
              <a:gd name="adj" fmla="val 2222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21792" y="3218688"/>
            <a:ext cx="905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1783080" y="3154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 Calculation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114800" y="31546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Determines how suitable each item is for the user.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548640" y="3721608"/>
            <a:ext cx="1051560" cy="329184"/>
          </a:xfrm>
          <a:prstGeom prst="roundRect">
            <a:avLst>
              <a:gd name="adj" fmla="val 2222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21792" y="3721608"/>
            <a:ext cx="905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1783080" y="3657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and Ranking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4114800" y="36576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Arranges items according to relevance.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457200" y="416052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48640" y="4224528"/>
            <a:ext cx="1051560" cy="329184"/>
          </a:xfrm>
          <a:prstGeom prst="roundRect">
            <a:avLst>
              <a:gd name="adj" fmla="val 2222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21792" y="4224528"/>
            <a:ext cx="905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1783080" y="4160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Output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4114800" y="41605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the final limited list of recommended items.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  |  Team 7  |  Section 12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Input and Output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43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Input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554480"/>
            <a:ext cx="2377440" cy="2377440"/>
          </a:xfrm>
          <a:prstGeom prst="roundRect">
            <a:avLst>
              <a:gd name="adj" fmla="val 307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691640"/>
            <a:ext cx="2194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your interests: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Action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Sci-Fi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 of recommendations required: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3017520" y="11430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017520" y="1554480"/>
            <a:ext cx="1920240" cy="2377440"/>
          </a:xfrm>
          <a:prstGeom prst="roundRect">
            <a:avLst>
              <a:gd name="adj" fmla="val 381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108960" y="1691640"/>
            <a:ext cx="1737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Searching items...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Matching interests...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Calculating relevance...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Sorting recommendations...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5120640" y="1143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120640" y="155448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212080" y="1691640"/>
            <a:ext cx="3383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 RECOMMENDATIONS =====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Movie 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Matching Interests: Action, Sci-Fi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Relevance: High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Movie C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Matching Interest: Sci-Fi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Relevance: Moderate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  |  Team 7  |  Section 12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of DSA in the Project</a:t>
            </a:r>
            <a:endParaRPr lang="en-US" sz="2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56692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5661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DSA Concept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338C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 collections of information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338C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 and compare interests/features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338C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 collections of items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338C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Dynamic Data Structures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 changing information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338C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matching items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338C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 Searching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 user interests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338C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 recommendations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338C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 efficiency and response 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400800" y="1143000"/>
            <a:ext cx="2286000" cy="3291840"/>
          </a:xfrm>
          <a:prstGeom prst="roundRect">
            <a:avLst>
              <a:gd name="adj" fmla="val 3200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6629400" y="137160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50876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62940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6629400" y="2468880"/>
            <a:ext cx="1874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concepts combine to solve a practical recommendation problem.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  |  Team 7  |  Section 12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Efficiency and Performance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4572000" cy="548640"/>
          </a:xfrm>
          <a:prstGeom prst="roundRect">
            <a:avLst>
              <a:gd name="adj" fmla="val 13333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847088"/>
            <a:ext cx="4572000" cy="548640"/>
          </a:xfrm>
          <a:prstGeom prst="roundRect">
            <a:avLst>
              <a:gd name="adj" fmla="val 13333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2505456"/>
            <a:ext cx="4572000" cy="548640"/>
          </a:xfrm>
          <a:prstGeom prst="roundRect">
            <a:avLst>
              <a:gd name="adj" fmla="val 13333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3163824"/>
            <a:ext cx="4572000" cy="548640"/>
          </a:xfrm>
          <a:prstGeom prst="roundRect">
            <a:avLst>
              <a:gd name="adj" fmla="val 13333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3822192"/>
            <a:ext cx="4572000" cy="548640"/>
          </a:xfrm>
          <a:prstGeom prst="roundRect">
            <a:avLst>
              <a:gd name="adj" fmla="val 13333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66928" y="1280160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371600"/>
            <a:ext cx="182880" cy="1828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66928" y="1938528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029968"/>
            <a:ext cx="182880" cy="18288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566928" y="2596896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688336"/>
            <a:ext cx="182880" cy="18288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566928" y="3255264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346704"/>
            <a:ext cx="182880" cy="18288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566928" y="3913632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4005072"/>
            <a:ext cx="182880" cy="18288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1097280" y="1188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unnecessary searching</a:t>
            </a:r>
            <a:endParaRPr lang="en-US" sz="1400" dirty="0"/>
          </a:p>
        </p:txBody>
      </p:sp>
      <p:sp>
        <p:nvSpPr>
          <p:cNvPr id="22" name="Text 14"/>
          <p:cNvSpPr txBox="1"/>
          <p:nvPr/>
        </p:nvSpPr>
        <p:spPr>
          <a:xfrm>
            <a:off x="1097280" y="184708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relevant items efficiently</a:t>
            </a:r>
            <a:endParaRPr lang="en-US" sz="1400" dirty="0"/>
          </a:p>
        </p:txBody>
      </p:sp>
      <p:sp>
        <p:nvSpPr>
          <p:cNvPr id="23" name="Text 15"/>
          <p:cNvSpPr txBox="1"/>
          <p:nvPr/>
        </p:nvSpPr>
        <p:spPr>
          <a:xfrm>
            <a:off x="1097280" y="2505456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user preferences effectively</a:t>
            </a:r>
            <a:endParaRPr lang="en-US" sz="1400" dirty="0"/>
          </a:p>
        </p:txBody>
      </p:sp>
      <p:sp>
        <p:nvSpPr>
          <p:cNvPr id="24" name="Text 16"/>
          <p:cNvSpPr txBox="1"/>
          <p:nvPr/>
        </p:nvSpPr>
        <p:spPr>
          <a:xfrm>
            <a:off x="1097280" y="316382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recommendations quickly</a:t>
            </a:r>
            <a:endParaRPr lang="en-US" sz="1400" dirty="0"/>
          </a:p>
        </p:txBody>
      </p:sp>
      <p:sp>
        <p:nvSpPr>
          <p:cNvPr id="25" name="Text 17"/>
          <p:cNvSpPr txBox="1"/>
          <p:nvPr/>
        </p:nvSpPr>
        <p:spPr>
          <a:xfrm>
            <a:off x="1097280" y="382219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limited and relevant results</a:t>
            </a:r>
            <a:endParaRPr lang="en-US" sz="1400" dirty="0"/>
          </a:p>
        </p:txBody>
      </p:sp>
      <p:sp>
        <p:nvSpPr>
          <p:cNvPr id="26" name="Shape 18"/>
          <p:cNvSpPr/>
          <p:nvPr/>
        </p:nvSpPr>
        <p:spPr>
          <a:xfrm>
            <a:off x="5303520" y="118872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27" name="Text 19"/>
          <p:cNvSpPr txBox="1"/>
          <p:nvPr/>
        </p:nvSpPr>
        <p:spPr>
          <a:xfrm>
            <a:off x="5532120" y="1325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CONTRIBUTION</a:t>
            </a:r>
            <a:endParaRPr lang="en-US" sz="1100" dirty="0"/>
          </a:p>
        </p:txBody>
      </p:sp>
      <p:sp>
        <p:nvSpPr>
          <p:cNvPr id="28" name="Text 20"/>
          <p:cNvSpPr txBox="1"/>
          <p:nvPr/>
        </p:nvSpPr>
        <p:spPr>
          <a:xfrm>
            <a:off x="5532120" y="169164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data structures and algorithms reduce the processing needed to generate recommendations.</a:t>
            </a:r>
            <a:endParaRPr lang="en-US" sz="1300" dirty="0"/>
          </a:p>
        </p:txBody>
      </p:sp>
      <p:sp>
        <p:nvSpPr>
          <p:cNvPr id="29" name="Shape 21"/>
          <p:cNvSpPr/>
          <p:nvPr/>
        </p:nvSpPr>
        <p:spPr>
          <a:xfrm>
            <a:off x="5303520" y="2926080"/>
            <a:ext cx="1645920" cy="1371600"/>
          </a:xfrm>
          <a:prstGeom prst="roundRect">
            <a:avLst>
              <a:gd name="adj" fmla="val 5333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5394960" y="3063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338C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O(n)</a:t>
            </a:r>
            <a:endParaRPr lang="en-US" sz="2400" dirty="0"/>
          </a:p>
        </p:txBody>
      </p:sp>
      <p:sp>
        <p:nvSpPr>
          <p:cNvPr id="31" name="Text 23"/>
          <p:cNvSpPr txBox="1"/>
          <p:nvPr/>
        </p:nvSpPr>
        <p:spPr>
          <a:xfrm>
            <a:off x="5440680" y="36118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search over items</a:t>
            </a:r>
            <a:endParaRPr lang="en-US" sz="1100" dirty="0"/>
          </a:p>
        </p:txBody>
      </p:sp>
      <p:sp>
        <p:nvSpPr>
          <p:cNvPr id="32" name="Shape 24"/>
          <p:cNvSpPr/>
          <p:nvPr/>
        </p:nvSpPr>
        <p:spPr>
          <a:xfrm>
            <a:off x="7040880" y="2926080"/>
            <a:ext cx="1645920" cy="1371600"/>
          </a:xfrm>
          <a:prstGeom prst="roundRect">
            <a:avLst>
              <a:gd name="adj" fmla="val 5333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33" name="Text 25"/>
          <p:cNvSpPr txBox="1"/>
          <p:nvPr/>
        </p:nvSpPr>
        <p:spPr>
          <a:xfrm>
            <a:off x="7132320" y="3063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 log n)</a:t>
            </a:r>
            <a:endParaRPr lang="en-US" sz="2000" dirty="0"/>
          </a:p>
        </p:txBody>
      </p:sp>
      <p:sp>
        <p:nvSpPr>
          <p:cNvPr id="34" name="Text 26"/>
          <p:cNvSpPr txBox="1"/>
          <p:nvPr/>
        </p:nvSpPr>
        <p:spPr>
          <a:xfrm>
            <a:off x="7178040" y="36118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sorting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  |  Team 7  |  Section 12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21792" y="1316736"/>
            <a:ext cx="457200" cy="45720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1431036"/>
            <a:ext cx="228600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118872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recommendations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663440" y="1188720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828032" y="1316736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2332" y="1431036"/>
            <a:ext cx="228600" cy="2286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440680" y="118872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searching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457200" y="2029968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21792" y="2157984"/>
            <a:ext cx="457200" cy="45720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2272284"/>
            <a:ext cx="228600" cy="2286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34440" y="2029968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Organized data management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4663440" y="2029968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4828032" y="2157984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2332" y="2272284"/>
            <a:ext cx="228600" cy="22860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440680" y="2029968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retrieval of relevant items</a:t>
            </a:r>
            <a:endParaRPr lang="en-US" sz="1400" dirty="0"/>
          </a:p>
        </p:txBody>
      </p:sp>
      <p:sp>
        <p:nvSpPr>
          <p:cNvPr id="22" name="Shape 15"/>
          <p:cNvSpPr/>
          <p:nvPr/>
        </p:nvSpPr>
        <p:spPr>
          <a:xfrm>
            <a:off x="457200" y="2871216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621792" y="2999232"/>
            <a:ext cx="457200" cy="45720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92" y="3113532"/>
            <a:ext cx="228600" cy="22860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234440" y="2871216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based on relevance</a:t>
            </a:r>
            <a:endParaRPr lang="en-US" sz="1400" dirty="0"/>
          </a:p>
        </p:txBody>
      </p:sp>
      <p:sp>
        <p:nvSpPr>
          <p:cNvPr id="26" name="Shape 18"/>
          <p:cNvSpPr/>
          <p:nvPr/>
        </p:nvSpPr>
        <p:spPr>
          <a:xfrm>
            <a:off x="4663440" y="2871216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4828032" y="2999232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2332" y="3113532"/>
            <a:ext cx="228600" cy="228600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5440680" y="2871216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unnecessary searching</a:t>
            </a:r>
            <a:endParaRPr lang="en-US" sz="1400" dirty="0"/>
          </a:p>
        </p:txBody>
      </p:sp>
      <p:sp>
        <p:nvSpPr>
          <p:cNvPr id="30" name="Shape 21"/>
          <p:cNvSpPr/>
          <p:nvPr/>
        </p:nvSpPr>
        <p:spPr>
          <a:xfrm>
            <a:off x="457200" y="3712464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31" name="Shape 22"/>
          <p:cNvSpPr/>
          <p:nvPr/>
        </p:nvSpPr>
        <p:spPr>
          <a:xfrm>
            <a:off x="621792" y="3840480"/>
            <a:ext cx="457200" cy="45720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092" y="3954780"/>
            <a:ext cx="228600" cy="228600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1234440" y="3712464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and diverse recommendations</a:t>
            </a:r>
            <a:endParaRPr lang="en-US" sz="1400" dirty="0"/>
          </a:p>
        </p:txBody>
      </p:sp>
      <p:sp>
        <p:nvSpPr>
          <p:cNvPr id="34" name="Shape 24"/>
          <p:cNvSpPr/>
          <p:nvPr/>
        </p:nvSpPr>
        <p:spPr>
          <a:xfrm>
            <a:off x="4663440" y="3712464"/>
            <a:ext cx="4023360" cy="713232"/>
          </a:xfrm>
          <a:prstGeom prst="roundRect">
            <a:avLst>
              <a:gd name="adj" fmla="val 10256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35" name="Shape 25"/>
          <p:cNvSpPr/>
          <p:nvPr/>
        </p:nvSpPr>
        <p:spPr>
          <a:xfrm>
            <a:off x="4828032" y="384048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42332" y="3954780"/>
            <a:ext cx="228600" cy="228600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5440680" y="3712464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use of DSA concepts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  |  Team 7  |  Section 12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1965960" cy="3200400"/>
          </a:xfrm>
          <a:prstGeom prst="roundRect">
            <a:avLst>
              <a:gd name="adj" fmla="val 3721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1463040"/>
            <a:ext cx="777240" cy="77724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110" y="1657350"/>
            <a:ext cx="388620" cy="3886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85800" y="24688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292608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products based on user interests and previous interactions.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2560320" y="1188720"/>
            <a:ext cx="1965960" cy="3200400"/>
          </a:xfrm>
          <a:prstGeom prst="roundRect">
            <a:avLst>
              <a:gd name="adj" fmla="val 3721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2788920" y="1463040"/>
            <a:ext cx="777240" cy="7772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3230" y="1657350"/>
            <a:ext cx="388620" cy="3886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788920" y="24688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Entertainment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2788920" y="292608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movies, books, music, or other content.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4663440" y="1188720"/>
            <a:ext cx="1965960" cy="3200400"/>
          </a:xfrm>
          <a:prstGeom prst="roundRect">
            <a:avLst>
              <a:gd name="adj" fmla="val 3721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892040" y="1463040"/>
            <a:ext cx="777240" cy="77724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6350" y="1657350"/>
            <a:ext cx="388620" cy="3886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892040" y="24688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Learning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4892040" y="292608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courses and learning materials.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766560" y="1188720"/>
            <a:ext cx="1965960" cy="3200400"/>
          </a:xfrm>
          <a:prstGeom prst="roundRect">
            <a:avLst>
              <a:gd name="adj" fmla="val 3721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995160" y="1463040"/>
            <a:ext cx="777240" cy="7772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9470" y="1657350"/>
            <a:ext cx="388620" cy="3886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995160" y="24688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Platforms</a:t>
            </a:r>
            <a:endParaRPr lang="en-US" sz="1600" dirty="0"/>
          </a:p>
        </p:txBody>
      </p:sp>
      <p:sp>
        <p:nvSpPr>
          <p:cNvPr id="25" name="Text 18"/>
          <p:cNvSpPr txBox="1"/>
          <p:nvPr/>
        </p:nvSpPr>
        <p:spPr>
          <a:xfrm>
            <a:off x="6995160" y="292608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relevant content based on user activity.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  |  Team 7  |  Section 12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777240" y="1371600"/>
            <a:ext cx="0" cy="3017520"/>
          </a:xfrm>
          <a:prstGeom prst="line">
            <a:avLst/>
          </a:prstGeom>
          <a:noFill/>
          <a:ln w="25400">
            <a:solidFill>
              <a:srgbClr val="C7CBE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67512" y="1271016"/>
            <a:ext cx="219456" cy="219456"/>
          </a:xfrm>
          <a:prstGeom prst="ellipse">
            <a:avLst/>
          </a:prstGeom>
          <a:solidFill>
            <a:srgbClr val="4338C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143000" y="114300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larger datasets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67512" y="1755648"/>
            <a:ext cx="219456" cy="219456"/>
          </a:xfrm>
          <a:prstGeom prst="ellipse">
            <a:avLst/>
          </a:prstGeom>
          <a:solidFill>
            <a:srgbClr val="0D948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143000" y="1627632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more advanced recommendation techniques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67512" y="2240280"/>
            <a:ext cx="219456" cy="219456"/>
          </a:xfrm>
          <a:prstGeom prst="ellipse">
            <a:avLst/>
          </a:prstGeom>
          <a:solidFill>
            <a:srgbClr val="4338C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143000" y="2112264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relevance calculation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67512" y="2724912"/>
            <a:ext cx="219456" cy="219456"/>
          </a:xfrm>
          <a:prstGeom prst="ellipse">
            <a:avLst/>
          </a:prstGeom>
          <a:solidFill>
            <a:srgbClr val="0D948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143000" y="2596896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additional user interaction information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67512" y="3209544"/>
            <a:ext cx="219456" cy="219456"/>
          </a:xfrm>
          <a:prstGeom prst="ellipse">
            <a:avLst/>
          </a:prstGeom>
          <a:solidFill>
            <a:srgbClr val="4338C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143000" y="3081528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real-time recommendations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67512" y="3694176"/>
            <a:ext cx="219456" cy="219456"/>
          </a:xfrm>
          <a:prstGeom prst="ellipse">
            <a:avLst/>
          </a:prstGeom>
          <a:solidFill>
            <a:srgbClr val="0D948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143000" y="356616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more sophisticated search techniques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67512" y="4178808"/>
            <a:ext cx="219456" cy="219456"/>
          </a:xfrm>
          <a:prstGeom prst="ellipse">
            <a:avLst/>
          </a:prstGeom>
          <a:solidFill>
            <a:srgbClr val="4338C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143000" y="4050792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the system with real-world platforms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035040" y="1143000"/>
            <a:ext cx="2651760" cy="3364992"/>
          </a:xfrm>
          <a:prstGeom prst="roundRect">
            <a:avLst>
              <a:gd name="adj" fmla="val 2759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995160" y="1554480"/>
            <a:ext cx="731520" cy="7315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737360"/>
            <a:ext cx="365760" cy="36576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6263640" y="260604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Toward real-world, real-time recommendations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  |  Team 7  |  Section 12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57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188720"/>
            <a:ext cx="5120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Recommendation Engine applies Data Structures and Algorithms to a real-world problem.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processes user preferences and interaction history, matches interests with item information, calculates relevance, and ranks items to generate suitable recommendations.</a:t>
            </a:r>
            <a:endParaRPr lang="en-US" sz="16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Arrays, strings, lists, dynamic data structures, searching, sorting, and string-searching techniques organize the data and improve efficiency.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concepts combine to build an efficient and scalable recommendation system.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309360" y="1188720"/>
            <a:ext cx="2377440" cy="237744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720840" y="1600200"/>
            <a:ext cx="1554480" cy="15544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205740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  |  Team 7  |  Section 12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5212080" cy="685800"/>
          </a:xfrm>
          <a:prstGeom prst="roundRect">
            <a:avLst>
              <a:gd name="adj" fmla="val 10667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1344168"/>
            <a:ext cx="365760" cy="36576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1344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118872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and Algorithms – 3 course material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011680"/>
            <a:ext cx="5212080" cy="685800"/>
          </a:xfrm>
          <a:prstGeom prst="roundRect">
            <a:avLst>
              <a:gd name="adj" fmla="val 10667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4360" y="2167128"/>
            <a:ext cx="365760" cy="36576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94360" y="2167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188720" y="201168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abstract and project documentation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57200" y="2834640"/>
            <a:ext cx="5212080" cy="685800"/>
          </a:xfrm>
          <a:prstGeom prst="roundRect">
            <a:avLst>
              <a:gd name="adj" fmla="val 10667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4360" y="2990088"/>
            <a:ext cx="365760" cy="36576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94360" y="2990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1188720" y="283464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algorithm and data structure references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57200" y="3657600"/>
            <a:ext cx="5212080" cy="685800"/>
          </a:xfrm>
          <a:prstGeom prst="roundRect">
            <a:avLst>
              <a:gd name="adj" fmla="val 10667"/>
            </a:avLst>
          </a:prstGeom>
          <a:solidFill>
            <a:srgbClr val="EEF0FB"/>
          </a:solidFill>
          <a:ln w="12700">
            <a:solidFill>
              <a:srgbClr val="EEF0F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4360" y="3813048"/>
            <a:ext cx="365760" cy="36576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94360" y="3813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1188720" y="365760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 / library documentation used during implementation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035040" y="1188720"/>
            <a:ext cx="2651760" cy="3154680"/>
          </a:xfrm>
          <a:prstGeom prst="roundRect">
            <a:avLst>
              <a:gd name="adj" fmla="val 2759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035040" y="15544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24" name="Text 21"/>
          <p:cNvSpPr txBox="1"/>
          <p:nvPr/>
        </p:nvSpPr>
        <p:spPr>
          <a:xfrm>
            <a:off x="6035040" y="2240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6035040" y="31089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Srivalli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Shanmukhi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CineMax — Website Implementation Screenshots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AABEE1"/>
                </a:solidFill>
              </a:defRPr>
            </a:pPr>
            <a:r>
              <a:t>Captured from the supplied project demonstration video</a:t>
            </a:r>
          </a:p>
        </p:txBody>
      </p:sp>
      <p:pic>
        <p:nvPicPr>
          <p:cNvPr id="4" name="Picture 3" descr="cinemax_screenshot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5577840" cy="3246120"/>
          </a:xfrm>
          <a:prstGeom prst="rect">
            <a:avLst/>
          </a:prstGeom>
        </p:spPr>
      </p:pic>
      <p:pic>
        <p:nvPicPr>
          <p:cNvPr id="5" name="Picture 4" descr="cinemax_screenshot_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34440"/>
            <a:ext cx="5532120" cy="3246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4590288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Figure 1. Landing page and genre discovery controls.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459028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Figure 2. Filter/search panel and ranked movie cards.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23036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D7E1F5"/>
                </a:solidFill>
              </a:defRPr>
            </a:pPr>
            <a:r>
              <a:t>Visible features in the demonstration include genre selection, title/genre search, a result limit, recommendation cards, watchlist and comparison controls. The scoring logic ranks movies using genre matches, rating and recency.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Recommendation Engine</dc:title>
  <dc:subject>PptxGenJS Presentation</dc:subject>
  <dc:creator>Team 7</dc:creator>
  <cp:lastModifiedBy>Team 7</cp:lastModifiedBy>
  <cp:revision>1</cp:revision>
  <dcterms:created xsi:type="dcterms:W3CDTF">2026-09-23T16:11:22Z</dcterms:created>
  <dcterms:modified xsi:type="dcterms:W3CDTF">2026-09-23T16:11:22Z</dcterms:modified>
</cp:coreProperties>
</file>